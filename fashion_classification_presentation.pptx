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6213E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6213E"/>
                </a:solidFill>
                <a:latin typeface="Arial"/>
              </a:rPr>
              <a:t>Class Distribution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(%)</c:v>
                </c:pt>
              </c:strCache>
            </c:strRef>
          </c:tx>
          <c:spPr>
            <a:solidFill>
              <a:srgbClr val="0F346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346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F346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F346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F346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F346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F346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F3460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0F3460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0F3460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0F3460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Sandal</c:v>
                  </c:pt>
                  <c:pt idx="1">
                    <c:v>Fragrance</c:v>
                  </c:pt>
                  <c:pt idx="2">
                    <c:v>Eyewear</c:v>
                  </c:pt>
                  <c:pt idx="3">
                    <c:v>Jewellery</c:v>
                  </c:pt>
                  <c:pt idx="4">
                    <c:v>Innerwear</c:v>
                  </c:pt>
                  <c:pt idx="5">
                    <c:v>Watches</c:v>
                  </c:pt>
                  <c:pt idx="6">
                    <c:v>Bottomwear</c:v>
                  </c:pt>
                  <c:pt idx="7">
                    <c:v>Bags</c:v>
                  </c:pt>
                  <c:pt idx="8">
                    <c:v>Shoes</c:v>
                  </c:pt>
                  <c:pt idx="9">
                    <c:v>Topwear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2.6</c:v>
                </c:pt>
                <c:pt idx="1">
                  <c:v>2.7</c:v>
                </c:pt>
                <c:pt idx="2">
                  <c:v>2.9</c:v>
                </c:pt>
                <c:pt idx="3">
                  <c:v>2.9</c:v>
                </c:pt>
                <c:pt idx="4">
                  <c:v>4.9</c:v>
                </c:pt>
                <c:pt idx="5">
                  <c:v>6.9</c:v>
                </c:pt>
                <c:pt idx="6">
                  <c:v>7.3</c:v>
                </c:pt>
                <c:pt idx="7">
                  <c:v>8.3</c:v>
                </c:pt>
                <c:pt idx="8">
                  <c:v>19.9</c:v>
                </c:pt>
                <c:pt idx="9">
                  <c:v>41.7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9F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 CNN</c:v>
                </c:pt>
              </c:strCache>
            </c:strRef>
          </c:tx>
          <c:spPr>
            <a:solidFill>
              <a:srgbClr val="0F346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Accuracy</c:v>
                  </c:pt>
                  <c:pt idx="1">
                    <c:v>Macro Precision</c:v>
                  </c:pt>
                  <c:pt idx="2">
                    <c:v>Macro Recall</c:v>
                  </c:pt>
                  <c:pt idx="3">
                    <c:v>Macro F1</c:v>
                  </c:pt>
                  <c:pt idx="4">
                    <c:v>Weighted F1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98.54</c:v>
                </c:pt>
                <c:pt idx="1">
                  <c:v>98.17</c:v>
                </c:pt>
                <c:pt idx="2">
                  <c:v>96.89</c:v>
                </c:pt>
                <c:pt idx="3">
                  <c:v>97.5</c:v>
                </c:pt>
                <c:pt idx="4">
                  <c:v>98.52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MobileNetV2 TL</c:v>
                </c:pt>
              </c:strCache>
            </c:strRef>
          </c:tx>
          <c:spPr>
            <a:solidFill>
              <a:srgbClr val="E9456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Accuracy</c:v>
                  </c:pt>
                  <c:pt idx="1">
                    <c:v>Macro Precision</c:v>
                  </c:pt>
                  <c:pt idx="2">
                    <c:v>Macro Recall</c:v>
                  </c:pt>
                  <c:pt idx="3">
                    <c:v>Macro F1</c:v>
                  </c:pt>
                  <c:pt idx="4">
                    <c:v>Weighted F1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98.72</c:v>
                </c:pt>
                <c:pt idx="1">
                  <c:v>98.31</c:v>
                </c:pt>
                <c:pt idx="2">
                  <c:v>97.08</c:v>
                </c:pt>
                <c:pt idx="3">
                  <c:v>97.67</c:v>
                </c:pt>
                <c:pt idx="4">
                  <c:v>98.7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96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8F9F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6213E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6213E"/>
                </a:solidFill>
                <a:latin typeface="Arial"/>
              </a:rPr>
              <a:t>Per-Class F1-Score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 CNN</c:v>
                </c:pt>
              </c:strCache>
            </c:strRef>
          </c:tx>
          <c:spPr>
            <a:solidFill>
              <a:srgbClr val="0F346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Topwear</c:v>
                  </c:pt>
                  <c:pt idx="1">
                    <c:v>Shoes</c:v>
                  </c:pt>
                  <c:pt idx="2">
                    <c:v>Bags</c:v>
                  </c:pt>
                  <c:pt idx="3">
                    <c:v>Bottomwear</c:v>
                  </c:pt>
                  <c:pt idx="4">
                    <c:v>Watches</c:v>
                  </c:pt>
                  <c:pt idx="5">
                    <c:v>Innerwear</c:v>
                  </c:pt>
                  <c:pt idx="6">
                    <c:v>Jewellery</c:v>
                  </c:pt>
                  <c:pt idx="7">
                    <c:v>Eyewear</c:v>
                  </c:pt>
                  <c:pt idx="8">
                    <c:v>Fragrance</c:v>
                  </c:pt>
                  <c:pt idx="9">
                    <c:v>Sandal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99.4</c:v>
                </c:pt>
                <c:pt idx="1">
                  <c:v>98.2</c:v>
                </c:pt>
                <c:pt idx="2">
                  <c:v>98.8</c:v>
                </c:pt>
                <c:pt idx="3">
                  <c:v>98.1</c:v>
                </c:pt>
                <c:pt idx="4">
                  <c:v>99.5</c:v>
                </c:pt>
                <c:pt idx="5">
                  <c:v>96.4</c:v>
                </c:pt>
                <c:pt idx="6">
                  <c:v>98.5</c:v>
                </c:pt>
                <c:pt idx="7">
                  <c:v>100</c:v>
                </c:pt>
                <c:pt idx="8">
                  <c:v>99.7</c:v>
                </c:pt>
                <c:pt idx="9">
                  <c:v>86.4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MobileNetV2 TL</c:v>
                </c:pt>
              </c:strCache>
            </c:strRef>
          </c:tx>
          <c:spPr>
            <a:solidFill>
              <a:srgbClr val="E9456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Topwear</c:v>
                  </c:pt>
                  <c:pt idx="1">
                    <c:v>Shoes</c:v>
                  </c:pt>
                  <c:pt idx="2">
                    <c:v>Bags</c:v>
                  </c:pt>
                  <c:pt idx="3">
                    <c:v>Bottomwear</c:v>
                  </c:pt>
                  <c:pt idx="4">
                    <c:v>Watches</c:v>
                  </c:pt>
                  <c:pt idx="5">
                    <c:v>Innerwear</c:v>
                  </c:pt>
                  <c:pt idx="6">
                    <c:v>Jewellery</c:v>
                  </c:pt>
                  <c:pt idx="7">
                    <c:v>Eyewear</c:v>
                  </c:pt>
                  <c:pt idx="8">
                    <c:v>Fragrance</c:v>
                  </c:pt>
                  <c:pt idx="9">
                    <c:v>Sandal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99.6</c:v>
                </c:pt>
                <c:pt idx="1">
                  <c:v>98.2</c:v>
                </c:pt>
                <c:pt idx="2">
                  <c:v>98.6</c:v>
                </c:pt>
                <c:pt idx="3">
                  <c:v>98.3</c:v>
                </c:pt>
                <c:pt idx="4">
                  <c:v>99.9</c:v>
                </c:pt>
                <c:pt idx="5">
                  <c:v>97.8</c:v>
                </c:pt>
                <c:pt idx="6">
                  <c:v>98.4</c:v>
                </c:pt>
                <c:pt idx="7">
                  <c:v>100</c:v>
                </c:pt>
                <c:pt idx="8">
                  <c:v>98.7</c:v>
                </c:pt>
                <c:pt idx="9">
                  <c:v>87.3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1"/>
          <c:min val="8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8F9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presentation covers fashion product sub-category classification using two CNN approaches.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Fashion e-commerce needs automated labeling at scale. The challenge is that many categories share visual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dataset is heavily skewed: Topwear is over 40%, while Sandal is under 3%.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questions guide the study: from-scratch feasibility, transfer learning gap, and interpretability.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models share the same input pipeline. Custom CNN trains from scratch; MobileNetV2 uses two-phase fine-tuning.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CNN grows from 64 to 512 channels across 5 stages, with SE attention in every block.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Workflow starts with sanity check before committing GPU hours. TTA adds a small but consistent accuracy boost.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models exceed 98.5% accuracy. MobileNetV2 leads by less than 0.2% on every metric.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Sandal F1 = 0.864 (CNN) and 0.873 (MobileNet). All other classes score above 0.96. Eyewear and Watches are near-perfect.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Sandal-Shoes is the dominant error. Grad-CAM confirms product-focused attention with no background exploitation.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key limitations: imbalance, domain shift, compute budget, and single-split evaluation.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models are highly competitive. MobileNetV2 is the clear choice when a pre-trained backbone is available. The main challenge is the Sandal-Shoes boundary.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548640"/>
            <a:ext cx="3200400" cy="3200400"/>
          </a:xfrm>
          <a:prstGeom prst="ellipse">
            <a:avLst/>
          </a:prstGeom>
          <a:solidFill>
            <a:srgbClr val="0F346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3474720"/>
            <a:ext cx="2560320" cy="2560320"/>
          </a:xfrm>
          <a:prstGeom prst="ellipse">
            <a:avLst/>
          </a:prstGeom>
          <a:solidFill>
            <a:srgbClr val="E94560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Fashion Product Classification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CNN vs MobileNetV2 Transfer Learning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201168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74320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Siddhant Santosh Mathapati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Course  ·  University of Europe for Applied Sciences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siddhant.mathapati@ue-germany.de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416052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  98.72%   ·   Macro F1  0.977   ·   Micro-AUC  1.00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554480" cy="292608"/>
          </a:xfrm>
          <a:prstGeom prst="roundRect">
            <a:avLst>
              <a:gd name="adj" fmla="val 15625"/>
            </a:avLst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01 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Automate Fashion Product Classification?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2651760" cy="3200400"/>
          </a:xfrm>
          <a:prstGeom prst="roundRect">
            <a:avLst>
              <a:gd name="adj" fmla="val 4138"/>
            </a:avLst>
          </a:prstGeom>
          <a:solidFill>
            <a:srgbClr val="F8F9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0" y="15087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📦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21488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578608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new product images are uploaded daily. Manual tagging cannot keep up.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325880"/>
            <a:ext cx="2651760" cy="3200400"/>
          </a:xfrm>
          <a:prstGeom prst="roundRect">
            <a:avLst>
              <a:gd name="adj" fmla="val 4138"/>
            </a:avLst>
          </a:prstGeom>
          <a:solidFill>
            <a:srgbClr val="F8F9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251960" y="15087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🎨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1488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 Complexity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83280" y="2578608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Sandals vs. shoes. Innerwear vs. topwear. Subtle differences that fool basic models.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325880"/>
            <a:ext cx="2651760" cy="3200400"/>
          </a:xfrm>
          <a:prstGeom prst="roundRect">
            <a:avLst>
              <a:gd name="adj" fmla="val 4138"/>
            </a:avLst>
          </a:prstGeom>
          <a:solidFill>
            <a:srgbClr val="F8F9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132320" y="15087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💡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263640" y="21488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Impact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63640" y="2578608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tags break search and recommendations, directly hurting revenue.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4663440"/>
            <a:ext cx="8412480" cy="365760"/>
          </a:xfrm>
          <a:prstGeom prst="roundRect">
            <a:avLst>
              <a:gd name="adj" fmla="val 30000"/>
            </a:avLst>
          </a:prstGeom>
          <a:solidFill>
            <a:srgbClr val="E8EDF5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" y="4690872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study compares a from-scratch CNN with a pre-trained MobileNetV2 to find the most practical approach under limited compute.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554480" cy="292608"/>
          </a:xfrm>
          <a:prstGeom prst="roundRect">
            <a:avLst>
              <a:gd name="adj" fmla="val 15625"/>
            </a:avLst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02  DATASET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Fashion Product Images (Small) — Kaggle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3840480" cy="3474720"/>
          </a:xfrm>
          <a:prstGeom prst="roundRect">
            <a:avLst>
              <a:gd name="adj" fmla="val 3158"/>
            </a:avLst>
          </a:prstGeom>
          <a:solidFill>
            <a:srgbClr val="F8F9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41732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at a Glance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892808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920240" y="1892808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— paramaggarwal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231136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20240" y="2231136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 classification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569464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20240" y="2569464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subCategory (CSV)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90779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20240" y="2907792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(≥350 samples each)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24612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size: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920240" y="3246120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 × 192 RGB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3584448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920240" y="3584448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~37,000 samples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3922776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920240" y="3922776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/ 15% / 15% stratified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4261104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920240" y="4261104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(ID-verified)</a:t>
            </a:r>
            <a:endParaRPr lang="en-US" sz="110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4389120" y="1325880"/>
          <a:ext cx="43891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554480" cy="292608"/>
          </a:xfrm>
          <a:prstGeom prst="roundRect">
            <a:avLst>
              <a:gd name="adj" fmla="val 15625"/>
            </a:avLst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03  QUESTIONS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Questions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8412480" cy="1078992"/>
          </a:xfrm>
          <a:prstGeom prst="roundRect">
            <a:avLst>
              <a:gd name="adj" fmla="val 10169"/>
            </a:avLst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54480"/>
            <a:ext cx="594360" cy="59436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54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1435608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custom CNN trained only on fashion images reach strong accuracy on a 10-class sub-category task?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589520" y="1673352"/>
            <a:ext cx="1097280" cy="237744"/>
          </a:xfrm>
          <a:prstGeom prst="roundRect">
            <a:avLst>
              <a:gd name="adj" fmla="val 19231"/>
            </a:avLst>
          </a:prstGeom>
          <a:solidFill>
            <a:srgbClr val="0F3460"/>
          </a:solidFill>
          <a:ln/>
        </p:spPr>
      </p:sp>
      <p:sp>
        <p:nvSpPr>
          <p:cNvPr id="10" name="Text 8"/>
          <p:cNvSpPr/>
          <p:nvPr/>
        </p:nvSpPr>
        <p:spPr>
          <a:xfrm>
            <a:off x="7589520" y="16733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From-scratch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65760" y="2514600"/>
            <a:ext cx="8412480" cy="1078992"/>
          </a:xfrm>
          <a:prstGeom prst="roundRect">
            <a:avLst>
              <a:gd name="adj" fmla="val 10169"/>
            </a:avLst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743200"/>
            <a:ext cx="594360" cy="59436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743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2624328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fine-tuned MobileNetV2 compare in accuracy, macro F1, and per-class recall?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89520" y="2862072"/>
            <a:ext cx="1097280" cy="237744"/>
          </a:xfrm>
          <a:prstGeom prst="roundRect">
            <a:avLst>
              <a:gd name="adj" fmla="val 19231"/>
            </a:avLst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7589520" y="286207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Transfer learning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65760" y="3703320"/>
            <a:ext cx="8412480" cy="1078992"/>
          </a:xfrm>
          <a:prstGeom prst="roundRect">
            <a:avLst>
              <a:gd name="adj" fmla="val 10169"/>
            </a:avLst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931920"/>
            <a:ext cx="594360" cy="59436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931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80160" y="3813048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classes are most confused, and do Grad-CAM maps confirm the model attends to the right regions?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589520" y="4050792"/>
            <a:ext cx="1097280" cy="237744"/>
          </a:xfrm>
          <a:prstGeom prst="roundRect">
            <a:avLst>
              <a:gd name="adj" fmla="val 19231"/>
            </a:avLst>
          </a:prstGeom>
          <a:solidFill>
            <a:srgbClr val="0F3460"/>
          </a:solidFill>
          <a:ln/>
        </p:spPr>
      </p:sp>
      <p:sp>
        <p:nvSpPr>
          <p:cNvPr id="22" name="Text 20"/>
          <p:cNvSpPr/>
          <p:nvPr/>
        </p:nvSpPr>
        <p:spPr>
          <a:xfrm>
            <a:off x="7589520" y="405079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Interpretability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554480" cy="292608"/>
          </a:xfrm>
          <a:prstGeom prst="roundRect">
            <a:avLst>
              <a:gd name="adj" fmla="val 15625"/>
            </a:avLst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04  METHODOLOGY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Two-Track Training Pipeline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E0F2F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2801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Images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645920" y="1609344"/>
            <a:ext cx="822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▶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728216" y="128016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DBEAFE"/>
          </a:solidFill>
          <a:ln/>
        </p:spPr>
      </p:sp>
      <p:sp>
        <p:nvSpPr>
          <p:cNvPr id="9" name="Text 7"/>
          <p:cNvSpPr/>
          <p:nvPr/>
        </p:nvSpPr>
        <p:spPr>
          <a:xfrm>
            <a:off x="1728216" y="12801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192×192 RGB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099816" y="1609344"/>
            <a:ext cx="822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▶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182112" y="128016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FEF3C7"/>
          </a:solidFill>
          <a:ln/>
        </p:spPr>
      </p:sp>
      <p:sp>
        <p:nvSpPr>
          <p:cNvPr id="12" name="Text 10"/>
          <p:cNvSpPr/>
          <p:nvPr/>
        </p:nvSpPr>
        <p:spPr>
          <a:xfrm>
            <a:off x="3182112" y="12801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(train only)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53712" y="1609344"/>
            <a:ext cx="822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▶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636008" y="128016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DCF7E3"/>
          </a:solidFill>
          <a:ln/>
        </p:spPr>
      </p:sp>
      <p:sp>
        <p:nvSpPr>
          <p:cNvPr id="15" name="Text 13"/>
          <p:cNvSpPr/>
          <p:nvPr/>
        </p:nvSpPr>
        <p:spPr>
          <a:xfrm>
            <a:off x="4636008" y="12801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007608" y="1609344"/>
            <a:ext cx="822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▶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089904" y="128016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EDE9FE"/>
          </a:solidFill>
          <a:ln/>
        </p:spPr>
      </p:sp>
      <p:sp>
        <p:nvSpPr>
          <p:cNvPr id="18" name="Text 16"/>
          <p:cNvSpPr/>
          <p:nvPr/>
        </p:nvSpPr>
        <p:spPr>
          <a:xfrm>
            <a:off x="6089904" y="12801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TTA Evaluation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461504" y="1609344"/>
            <a:ext cx="822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▶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543800" y="128016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FEE2E2"/>
          </a:solidFill>
          <a:ln/>
        </p:spPr>
      </p:sp>
      <p:sp>
        <p:nvSpPr>
          <p:cNvPr id="21" name="Text 19"/>
          <p:cNvSpPr/>
          <p:nvPr/>
        </p:nvSpPr>
        <p:spPr>
          <a:xfrm>
            <a:off x="7543800" y="12801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&amp; Viz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2423160"/>
            <a:ext cx="4114800" cy="2423160"/>
          </a:xfrm>
          <a:prstGeom prst="roundRect">
            <a:avLst>
              <a:gd name="adj" fmla="val 4528"/>
            </a:avLst>
          </a:prstGeom>
          <a:solidFill>
            <a:srgbClr val="F8F9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2920" y="2514600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4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CNN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291693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5-stage ResNet with SE attention blocks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326440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64 → 512 channels, Swish activations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36118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MixUp α=0.20, cosine LR decay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" y="39593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AdamW, weight decay λ=1e-4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430682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Label smoothing ε=0.05, 25 epochs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2423160"/>
            <a:ext cx="4114800" cy="2423160"/>
          </a:xfrm>
          <a:prstGeom prst="roundRect">
            <a:avLst>
              <a:gd name="adj" fmla="val 4528"/>
            </a:avLst>
          </a:prstGeom>
          <a:solidFill>
            <a:srgbClr val="F8F9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00600" y="2514600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45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MobileNetV2 TL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00600" y="291693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ImageNet pre-trained backbone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00600" y="326440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Phase 1: head only, 8 epochs, lr=1e-3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00600" y="36118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Phase 2: top 30% unfrozen, lr=1e-5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00600" y="39593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BatchNorm layers remain frozen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00600" y="430682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Adam optimizer, label smooth ε=0.02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554480" cy="292608"/>
          </a:xfrm>
          <a:prstGeom prst="roundRect">
            <a:avLst>
              <a:gd name="adj" fmla="val 15625"/>
            </a:avLst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05  CNN MODEL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CustomResNetSE_CNN —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1005840" cy="777240"/>
          </a:xfrm>
          <a:prstGeom prst="roundRect">
            <a:avLst>
              <a:gd name="adj" fmla="val 9412"/>
            </a:avLst>
          </a:prstGeom>
          <a:solidFill>
            <a:srgbClr val="E0F2F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28016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192×192×3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280160" y="1609344"/>
            <a:ext cx="822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▶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362456" y="1280160"/>
            <a:ext cx="1005840" cy="777240"/>
          </a:xfrm>
          <a:prstGeom prst="roundRect">
            <a:avLst>
              <a:gd name="adj" fmla="val 9412"/>
            </a:avLst>
          </a:prstGeom>
          <a:solidFill>
            <a:srgbClr val="DBEAFE"/>
          </a:solidFill>
          <a:ln/>
        </p:spPr>
      </p:sp>
      <p:sp>
        <p:nvSpPr>
          <p:cNvPr id="9" name="Text 7"/>
          <p:cNvSpPr/>
          <p:nvPr/>
        </p:nvSpPr>
        <p:spPr>
          <a:xfrm>
            <a:off x="1362456" y="128016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&amp; 64ch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368296" y="1609344"/>
            <a:ext cx="822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▶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450592" y="1280160"/>
            <a:ext cx="1005840" cy="777240"/>
          </a:xfrm>
          <a:prstGeom prst="roundRect">
            <a:avLst>
              <a:gd name="adj" fmla="val 9412"/>
            </a:avLst>
          </a:prstGeom>
          <a:solidFill>
            <a:srgbClr val="EDE9FE"/>
          </a:solidFill>
          <a:ln/>
        </p:spPr>
      </p:sp>
      <p:sp>
        <p:nvSpPr>
          <p:cNvPr id="12" name="Text 10"/>
          <p:cNvSpPr/>
          <p:nvPr/>
        </p:nvSpPr>
        <p:spPr>
          <a:xfrm>
            <a:off x="2450592" y="128016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Stage1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64ch ×2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56432" y="1609344"/>
            <a:ext cx="822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▶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538728" y="1280160"/>
            <a:ext cx="1005840" cy="777240"/>
          </a:xfrm>
          <a:prstGeom prst="roundRect">
            <a:avLst>
              <a:gd name="adj" fmla="val 9412"/>
            </a:avLst>
          </a:prstGeom>
          <a:solidFill>
            <a:srgbClr val="F3E8FF"/>
          </a:solidFill>
          <a:ln/>
        </p:spPr>
      </p:sp>
      <p:sp>
        <p:nvSpPr>
          <p:cNvPr id="15" name="Text 13"/>
          <p:cNvSpPr/>
          <p:nvPr/>
        </p:nvSpPr>
        <p:spPr>
          <a:xfrm>
            <a:off x="3538728" y="128016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E2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Stage2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7E2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128ch ×2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44568" y="1609344"/>
            <a:ext cx="822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▶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626864" y="1280160"/>
            <a:ext cx="1005840" cy="777240"/>
          </a:xfrm>
          <a:prstGeom prst="roundRect">
            <a:avLst>
              <a:gd name="adj" fmla="val 9412"/>
            </a:avLst>
          </a:prstGeom>
          <a:solidFill>
            <a:srgbClr val="FCE7F3"/>
          </a:solidFill>
          <a:ln/>
        </p:spPr>
      </p:sp>
      <p:sp>
        <p:nvSpPr>
          <p:cNvPr id="18" name="Text 16"/>
          <p:cNvSpPr/>
          <p:nvPr/>
        </p:nvSpPr>
        <p:spPr>
          <a:xfrm>
            <a:off x="4626864" y="128016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Stage3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256ch ×3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632704" y="1609344"/>
            <a:ext cx="822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▶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715000" y="1280160"/>
            <a:ext cx="1005840" cy="777240"/>
          </a:xfrm>
          <a:prstGeom prst="roundRect">
            <a:avLst>
              <a:gd name="adj" fmla="val 9412"/>
            </a:avLst>
          </a:prstGeom>
          <a:solidFill>
            <a:srgbClr val="FEE2E2"/>
          </a:solidFill>
          <a:ln/>
        </p:spPr>
      </p:sp>
      <p:sp>
        <p:nvSpPr>
          <p:cNvPr id="21" name="Text 19"/>
          <p:cNvSpPr/>
          <p:nvPr/>
        </p:nvSpPr>
        <p:spPr>
          <a:xfrm>
            <a:off x="5715000" y="128016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Stage4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384ch ×2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720840" y="1609344"/>
            <a:ext cx="822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▶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803136" y="1280160"/>
            <a:ext cx="1005840" cy="777240"/>
          </a:xfrm>
          <a:prstGeom prst="roundRect">
            <a:avLst>
              <a:gd name="adj" fmla="val 9412"/>
            </a:avLst>
          </a:prstGeom>
          <a:solidFill>
            <a:srgbClr val="FEF3C7"/>
          </a:solidFill>
          <a:ln/>
        </p:spPr>
      </p:sp>
      <p:sp>
        <p:nvSpPr>
          <p:cNvPr id="24" name="Text 22"/>
          <p:cNvSpPr/>
          <p:nvPr/>
        </p:nvSpPr>
        <p:spPr>
          <a:xfrm>
            <a:off x="6803136" y="128016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Stage5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512ch ×2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808976" y="1609344"/>
            <a:ext cx="822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▶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891272" y="1280160"/>
            <a:ext cx="1005840" cy="777240"/>
          </a:xfrm>
          <a:prstGeom prst="roundRect">
            <a:avLst>
              <a:gd name="adj" fmla="val 9412"/>
            </a:avLst>
          </a:prstGeom>
          <a:solidFill>
            <a:srgbClr val="D1FAE5"/>
          </a:solidFill>
          <a:ln/>
        </p:spPr>
      </p:sp>
      <p:sp>
        <p:nvSpPr>
          <p:cNvPr id="27" name="Text 25"/>
          <p:cNvSpPr/>
          <p:nvPr/>
        </p:nvSpPr>
        <p:spPr>
          <a:xfrm>
            <a:off x="7891272" y="128016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Softmax10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2286000"/>
            <a:ext cx="4114800" cy="2606040"/>
          </a:xfrm>
          <a:prstGeom prst="roundRect">
            <a:avLst>
              <a:gd name="adj" fmla="val 4211"/>
            </a:avLst>
          </a:prstGeom>
          <a:solidFill>
            <a:srgbClr val="F8F9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02920" y="2377440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4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Residual-SE Block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02920" y="279806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Conv–BN–Swish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" y="314553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Conv–BN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2920" y="349300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SE: squeeze (÷8) → ReLU → expand → sigmoid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" y="3840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Residual addition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" y="41879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Swish activation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2920" y="454456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weight decay λ=1e-4 on all conv &amp; dense layers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63440" y="2286000"/>
            <a:ext cx="4114800" cy="2606040"/>
          </a:xfrm>
          <a:prstGeom prst="roundRect">
            <a:avLst>
              <a:gd name="adj" fmla="val 4211"/>
            </a:avLst>
          </a:prstGeom>
          <a:solidFill>
            <a:srgbClr val="F8F9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800600" y="2377440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45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These Choices?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800600" y="279806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Swish activation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00600" y="3054096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nonlinearity — outperforms ReLU on image tasks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00600" y="330098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SE attention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800600" y="3557016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Channel-wise recalibration — improves per-class boundaries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800600" y="380390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Spatial dropout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800600" y="4059936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before each stride-2 downsample to prevent co-adaptation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800600" y="430682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Deep head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800600" y="4562856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Dense(512) with two dropout points reduces overconfidence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554480" cy="292608"/>
          </a:xfrm>
          <a:prstGeom prst="roundRect">
            <a:avLst>
              <a:gd name="adj" fmla="val 15625"/>
            </a:avLst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06  WORKFLOW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Workflow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11480" cy="41148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71500" y="1783080"/>
            <a:ext cx="0" cy="18288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33502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Loading &amp; Filtering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58191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styles.csv → remove missing → keep top-10 sub-categories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965960"/>
            <a:ext cx="411480" cy="41148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71500" y="2377440"/>
            <a:ext cx="0" cy="18288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192938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Overfit Sanity Check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217627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samples/class; confirm 100% train accuracy before full run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560320"/>
            <a:ext cx="411480" cy="41148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560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71500" y="2971800"/>
            <a:ext cx="0" cy="18288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252374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CNN Training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277063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epochs, cosine LR, ModelCheckpoint on val_acc, CSVLogger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154680"/>
            <a:ext cx="411480" cy="41148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71500" y="3566160"/>
            <a:ext cx="0" cy="18288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311810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Two-Phase TL Training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336499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frozen backbone → Phase 2 top-30% unfrozen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749040"/>
            <a:ext cx="411480" cy="41148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3749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71500" y="4160520"/>
            <a:ext cx="0" cy="18288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371246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TTA Evaluation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14400" y="395935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softmax(original) + softmax(h-flip) for final predictions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4343400"/>
            <a:ext cx="411480" cy="41148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4343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14400" y="430682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14400" y="455371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matrix, ROC curves, Grad-CAM, misclassification gallery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46320" y="1280160"/>
            <a:ext cx="3886200" cy="3520440"/>
          </a:xfrm>
          <a:prstGeom prst="roundRect">
            <a:avLst>
              <a:gd name="adj" fmla="val 3117"/>
            </a:avLst>
          </a:prstGeom>
          <a:solidFill>
            <a:srgbClr val="F8F9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983480" y="1371600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4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 &amp; Stack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983480" y="1847088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00800" y="1847088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Notebook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983480" y="219456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GPU: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00800" y="2194560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P100 / T4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983480" y="254203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Framework: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400800" y="2542032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2.x / Keras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983480" y="2889504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Precision: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400800" y="2889504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mixed_float16 (GPU)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983480" y="3236976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400800" y="3236976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tf.data, prefetch, parallel map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983480" y="3584448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Checkpoint: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400800" y="3584448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ModelCheckpoint on val_acc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983480" y="393192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Logging: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400800" y="3931920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CSVLogger per epoch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983480" y="427939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Seed: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400800" y="4279392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(all random ops)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554480" cy="292608"/>
          </a:xfrm>
          <a:prstGeom prst="roundRect">
            <a:avLst>
              <a:gd name="adj" fmla="val 15625"/>
            </a:avLst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07  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Results — Test Set Performance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EE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298448"/>
            <a:ext cx="2651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34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98.54%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2029968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CNN Accuracy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27832" y="123444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FFF1F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27832" y="1298448"/>
            <a:ext cx="2651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945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98.72%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227832" y="2029968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Accuracy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89904" y="123444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F0FDF4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89904" y="1298448"/>
            <a:ext cx="2651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089904" y="2029968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— Micro-AUC</a:t>
            </a:r>
            <a:endParaRPr lang="en-US" sz="11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365760" y="2633472"/>
          <a:ext cx="841248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554480" cy="292608"/>
          </a:xfrm>
          <a:prstGeom prst="roundRect">
            <a:avLst>
              <a:gd name="adj" fmla="val 15625"/>
            </a:avLst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08  FIGURES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Per-Class F1-Score Comparison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261872"/>
          <a:ext cx="84124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Sandal is the hardest class: 18–19% of Sandal test samples misclassified as Shoes in both models.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554480" cy="292608"/>
          </a:xfrm>
          <a:prstGeom prst="roundRect">
            <a:avLst>
              <a:gd name="adj" fmla="val 15625"/>
            </a:avLst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08  FIGURES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Confusion Pattern &amp; Grad-CAM Insights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114800" cy="3566160"/>
          </a:xfrm>
          <a:prstGeom prst="roundRect">
            <a:avLst>
              <a:gd name="adj" fmla="val 3077"/>
            </a:avLst>
          </a:prstGeom>
          <a:solidFill>
            <a:srgbClr val="F8F9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417320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4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Confusion Highlights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3840480" cy="658368"/>
          </a:xfrm>
          <a:prstGeom prst="roundRect">
            <a:avLst>
              <a:gd name="adj" fmla="val 11111"/>
            </a:avLst>
          </a:prstGeom>
          <a:solidFill>
            <a:srgbClr val="FFF1F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6596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Sandal → Shoes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258568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(CNN)  |  24 (MobileNet)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670048"/>
            <a:ext cx="3840480" cy="658368"/>
          </a:xfrm>
          <a:prstGeom prst="roundRect">
            <a:avLst>
              <a:gd name="adj" fmla="val 11111"/>
            </a:avLst>
          </a:prstGeom>
          <a:solidFill>
            <a:srgbClr val="F8F9F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7157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Innerwear → Topwear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008376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(CNN)  |  4 (MobileNet)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3419856"/>
            <a:ext cx="3840480" cy="658368"/>
          </a:xfrm>
          <a:prstGeom prst="roundRect">
            <a:avLst>
              <a:gd name="adj" fmla="val 11111"/>
            </a:avLst>
          </a:prstGeom>
          <a:solidFill>
            <a:srgbClr val="F8F9F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46557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Bags → Topwear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758184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5–6 errors each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4169664"/>
            <a:ext cx="3840480" cy="658368"/>
          </a:xfrm>
          <a:prstGeom prst="roundRect">
            <a:avLst>
              <a:gd name="adj" fmla="val 11111"/>
            </a:avLst>
          </a:prstGeom>
          <a:solidFill>
            <a:srgbClr val="F8F9F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21538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Eyewear / Fragrance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450799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Near-zero (unique shapes)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4005072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share the same error pattern.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makes fewer Innerwear mistakes (4 vs 10).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1325880"/>
            <a:ext cx="4114800" cy="3566160"/>
          </a:xfrm>
          <a:prstGeom prst="roundRect">
            <a:avLst>
              <a:gd name="adj" fmla="val 3077"/>
            </a:avLst>
          </a:prstGeom>
          <a:solidFill>
            <a:srgbClr val="F8F9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00600" y="1417320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45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Grad-CAM Reveals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00600" y="19202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Eyewear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0" y="192024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on lens &amp; frame edges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00600" y="2194560"/>
            <a:ext cx="3840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248716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Bags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0" y="248716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on handle &amp; body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00600" y="2761488"/>
            <a:ext cx="3840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3054096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Sandal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0" y="305409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sole and strap area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00600" y="3328416"/>
            <a:ext cx="3840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3621024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Bottomwear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00800" y="362102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across garment fabric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00600" y="3895344"/>
            <a:ext cx="3840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418795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Backgrounds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00800" y="418795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/ no activation — no shortcuts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00600" y="4005072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Models attend to product features, not background — no shortcut learning detected.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554480" cy="292608"/>
          </a:xfrm>
          <a:prstGeom prst="roundRect">
            <a:avLst>
              <a:gd name="adj" fmla="val 15625"/>
            </a:avLst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09  LIMITATIONS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What They Mean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4114800" cy="1691640"/>
          </a:xfrm>
          <a:prstGeom prst="roundRect">
            <a:avLst>
              <a:gd name="adj" fmla="val 6486"/>
            </a:avLst>
          </a:prstGeom>
          <a:solidFill>
            <a:srgbClr val="F8F9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4264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60704" y="1463040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Imbalance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865376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Topwear is 42% of data; Sandal under 3%. No focal loss or oversampling — minority-class recall is bounded by sample count.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280160"/>
            <a:ext cx="4114800" cy="1691640"/>
          </a:xfrm>
          <a:prstGeom prst="roundRect">
            <a:avLst>
              <a:gd name="adj" fmla="val 6486"/>
            </a:avLst>
          </a:prstGeom>
          <a:solidFill>
            <a:srgbClr val="F8F9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0600" y="14264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📸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358384" y="1463040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Controlled Photos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00600" y="1865376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white-background shots only. User-generated images with clutter or occlusion could significantly reduce accuracy.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108960"/>
            <a:ext cx="4114800" cy="1691640"/>
          </a:xfrm>
          <a:prstGeom prst="roundRect">
            <a:avLst>
              <a:gd name="adj" fmla="val 6486"/>
            </a:avLst>
          </a:prstGeom>
          <a:solidFill>
            <a:srgbClr val="F8F9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32552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⏱️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60704" y="3291840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 Limits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3694176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CNN trained 25 epochs only. Longer training or a larger backbone could narrow the gap with MobileNetV2.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3108960"/>
            <a:ext cx="4114800" cy="1691640"/>
          </a:xfrm>
          <a:prstGeom prst="roundRect">
            <a:avLst>
              <a:gd name="adj" fmla="val 6486"/>
            </a:avLst>
          </a:prstGeom>
          <a:solidFill>
            <a:srgbClr val="F8F9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00600" y="32552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🔬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358384" y="3291840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Split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00600" y="3694176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are from one 70/15/15 split (seed 42). Cross-validation would give a more reliable variance estimate.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554480" cy="292608"/>
          </a:xfrm>
          <a:prstGeom prst="roundRect">
            <a:avLst>
              <a:gd name="adj" fmla="val 15625"/>
            </a:avLst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10  CONCLUSION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8412480" cy="749808"/>
          </a:xfrm>
          <a:prstGeom prst="roundRect">
            <a:avLst>
              <a:gd name="adj" fmla="val 14634"/>
            </a:avLst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44752"/>
            <a:ext cx="411480" cy="41148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447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78992" y="1362456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 models exceed 98.5% test accuracy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78992" y="1682496"/>
            <a:ext cx="7223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Near-ceiling performance on a well-curated 10-class dataset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21408"/>
            <a:ext cx="8412480" cy="749808"/>
          </a:xfrm>
          <a:prstGeom prst="roundRect">
            <a:avLst>
              <a:gd name="adj" fmla="val 14634"/>
            </a:avLst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286000"/>
            <a:ext cx="411480" cy="41148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286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78992" y="2203704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MobileNetV2 edges ahead on every metric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78992" y="2523744"/>
            <a:ext cx="7223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+0.18% accuracy, +0.17% macro F1 — consistent but narrow advantage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962656"/>
            <a:ext cx="8412480" cy="749808"/>
          </a:xfrm>
          <a:prstGeom prst="roundRect">
            <a:avLst>
              <a:gd name="adj" fmla="val 14634"/>
            </a:avLst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127248"/>
            <a:ext cx="411480" cy="41148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1272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78992" y="3044952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Sandal/Shoes is the main confusion pair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78992" y="3364992"/>
            <a:ext cx="7223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~18% of Sandal samples misclassified as Shoes in both models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803904"/>
            <a:ext cx="8412480" cy="749808"/>
          </a:xfrm>
          <a:prstGeom prst="roundRect">
            <a:avLst>
              <a:gd name="adj" fmla="val 14634"/>
            </a:avLst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968496"/>
            <a:ext cx="411480" cy="41148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9684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78992" y="3886200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Grad-CAM confirms meaningful features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78992" y="4206240"/>
            <a:ext cx="7223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on product regions, not backgrounds — no shortcut learning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47731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focal loss  ·  self-supervised pre-training  ·  EfficientNetV2  ·  REST API deployment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Fashion Product Classification - Custom CNN vs MobileNetV2</dc:title>
  <dc:subject>PptxGenJS Presentation</dc:subject>
  <dc:creator>Siddhant Santosh Mathapati</dc:creator>
  <cp:lastModifiedBy>Siddhant Santosh Mathapati</cp:lastModifiedBy>
  <cp:revision>1</cp:revision>
  <dcterms:created xsi:type="dcterms:W3CDTF">2026-06-28T22:44:37Z</dcterms:created>
  <dcterms:modified xsi:type="dcterms:W3CDTF">2026-06-28T22:44:37Z</dcterms:modified>
</cp:coreProperties>
</file>